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5"/>
  </p:notesMasterIdLst>
  <p:sldIdLst>
    <p:sldId id="291" r:id="rId3"/>
    <p:sldId id="281" r:id="rId4"/>
    <p:sldId id="290" r:id="rId6"/>
    <p:sldId id="293" r:id="rId7"/>
    <p:sldId id="294" r:id="rId8"/>
    <p:sldId id="296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MS PGothic" panose="020B0600070205080204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 showGuide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MS PGothic" panose="020B0600070205080204" pitchFamily="1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65F62A7E-A2F8-438F-9CF8-47DE63F471B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fld id="{0CA7B74D-3791-4AC6-8451-F10DBCCCDD9A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en-US">
              <a:ea typeface="MS PGothic" panose="020B0600070205080204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MS PGothic" panose="020B0600070205080204" pitchFamily="1" charset="-128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MS PGothic" panose="020B0600070205080204" pitchFamily="1" charset="-128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pitchFamily="1" charset="0"/>
          <a:ea typeface="MS PGothic" panose="020B0600070205080204" pitchFamily="1" charset="-128"/>
          <a:cs typeface="MS PGothic" panose="020B0600070205080204" pitchFamily="1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TradeGothic"/>
          <a:ea typeface="MS PGothic" panose="020B0600070205080204" pitchFamily="1" charset="-128"/>
          <a:cs typeface="MS PGothic" panose="020B0600070205080204" pitchFamily="1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TradeGothic"/>
          <a:ea typeface="MS PGothic" panose="020B0600070205080204" pitchFamily="1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524000" y="259080"/>
            <a:ext cx="9144000" cy="61601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1"/>
          <a:srcRect r="59916"/>
          <a:stretch>
            <a:fillRect/>
          </a:stretch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9300000" cy="2076450"/>
          </a:xfrm>
        </p:spPr>
        <p:txBody>
          <a:bodyPr/>
          <a:lstStyle/>
          <a:p>
            <a:r>
              <a:rPr lang="en-US" sz="34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34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itle page details"/>
          <p:cNvSpPr txBox="1"/>
          <p:nvPr/>
        </p:nvSpPr>
        <p:spPr>
          <a:xfrm>
            <a:off x="331470" y="1715135"/>
            <a:ext cx="6009005" cy="4718685"/>
          </a:xfrm>
          <a:prstGeom prst="rect">
            <a:avLst/>
          </a:prstGeom>
          <a:noFill/>
        </p:spPr>
        <p:txBody>
          <a:bodyPr wrap="square" lIns="45720" rIns="45720" anchor="t"/>
          <a:lstStyle/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900" b="1" i="0">
                <a:solidFill>
                  <a:srgbClr val="1A1A1A"/>
                </a:solidFill>
                <a:latin typeface="Arial" panose="020B0604020202020204"/>
              </a:rPr>
              <a:t>Problem Statement ID – </a:t>
            </a:r>
            <a:r>
              <a:rPr sz="1900" b="1" i="0">
                <a:solidFill>
                  <a:srgbClr val="0070C0"/>
                </a:solidFill>
                <a:latin typeface="Arial" panose="020B0604020202020204"/>
              </a:rPr>
              <a:t>SIH26248</a:t>
            </a:r>
            <a:endParaRPr sz="1900" b="1" i="0">
              <a:solidFill>
                <a:srgbClr val="0070C0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900" b="1" i="0">
                <a:solidFill>
                  <a:srgbClr val="1A1A1A"/>
                </a:solidFill>
                <a:latin typeface="Arial" panose="020B0604020202020204"/>
              </a:rPr>
              <a:t>Problem Statement Title – </a:t>
            </a:r>
            <a:r>
              <a:rPr sz="1900" b="1" i="0">
                <a:solidFill>
                  <a:srgbClr val="0070C0"/>
                </a:solidFill>
                <a:latin typeface="Arial" panose="020B0604020202020204"/>
              </a:rPr>
              <a:t>Immersive Multi-Domain Decision-Making Trainer for Degraded Communication Environments</a:t>
            </a:r>
            <a:endParaRPr sz="1900" b="1" i="0">
              <a:solidFill>
                <a:srgbClr val="0070C0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900" b="1" i="0">
                <a:solidFill>
                  <a:srgbClr val="1A1A1A"/>
                </a:solidFill>
                <a:latin typeface="Arial" panose="020B0604020202020204"/>
              </a:rPr>
              <a:t>Ministry – </a:t>
            </a:r>
            <a:r>
              <a:rPr sz="1900" b="1" i="0">
                <a:solidFill>
                  <a:srgbClr val="0070C0"/>
                </a:solidFill>
                <a:latin typeface="Arial" panose="020B0604020202020204"/>
              </a:rPr>
              <a:t>Ministry of Defence (MoD)</a:t>
            </a:r>
            <a:endParaRPr sz="1900" b="1" i="0">
              <a:solidFill>
                <a:srgbClr val="0070C0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900" b="1" i="0">
                <a:solidFill>
                  <a:srgbClr val="1A1A1A"/>
                </a:solidFill>
                <a:latin typeface="Arial" panose="020B0604020202020204"/>
              </a:rPr>
              <a:t>Theme – </a:t>
            </a:r>
            <a:r>
              <a:rPr sz="1900" b="1" i="0">
                <a:solidFill>
                  <a:srgbClr val="0070C0"/>
                </a:solidFill>
                <a:latin typeface="Arial" panose="020B0604020202020204"/>
              </a:rPr>
              <a:t>Smart Automation</a:t>
            </a:r>
            <a:endParaRPr sz="1900" b="1" i="0">
              <a:solidFill>
                <a:srgbClr val="0070C0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900" b="1" i="0">
                <a:solidFill>
                  <a:srgbClr val="1A1A1A"/>
                </a:solidFill>
                <a:latin typeface="Arial" panose="020B0604020202020204"/>
              </a:rPr>
              <a:t>PS Category – </a:t>
            </a:r>
            <a:r>
              <a:rPr sz="1900" b="1" i="0">
                <a:solidFill>
                  <a:srgbClr val="0070C0"/>
                </a:solidFill>
                <a:latin typeface="Arial" panose="020B0604020202020204"/>
              </a:rPr>
              <a:t>Software</a:t>
            </a:r>
            <a:endParaRPr sz="1900" b="1" i="0">
              <a:solidFill>
                <a:srgbClr val="0070C0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900" b="1" i="0">
                <a:solidFill>
                  <a:srgbClr val="1A1A1A"/>
                </a:solidFill>
                <a:latin typeface="Arial" panose="020B0604020202020204"/>
              </a:rPr>
              <a:t>Team ID – </a:t>
            </a:r>
            <a:r>
              <a:rPr sz="1900" b="1" i="0">
                <a:solidFill>
                  <a:srgbClr val="0070C0"/>
                </a:solidFill>
                <a:latin typeface="Arial" panose="020B0604020202020204"/>
              </a:rPr>
              <a:t>[Team ID]</a:t>
            </a:r>
            <a:endParaRPr sz="1900" b="1" i="0">
              <a:solidFill>
                <a:srgbClr val="0070C0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900" b="1" i="0">
                <a:solidFill>
                  <a:srgbClr val="1A1A1A"/>
                </a:solidFill>
                <a:latin typeface="Arial" panose="020B0604020202020204"/>
              </a:rPr>
              <a:t>Team Name – </a:t>
            </a:r>
            <a:r>
              <a:rPr sz="1900" b="1" i="0">
                <a:solidFill>
                  <a:srgbClr val="0070C0"/>
                </a:solidFill>
                <a:latin typeface="Arial" panose="020B0604020202020204"/>
              </a:rPr>
              <a:t>[Registered Team Name]</a:t>
            </a:r>
            <a:endParaRPr sz="1900" b="1" i="0">
              <a:solidFill>
                <a:srgbClr val="0070C0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IDEA TITLE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/>
              <a:t>Code Crew</a:t>
            </a:r>
            <a:endParaRPr lang="en-US" alt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Idea name banner"/>
          <p:cNvSpPr/>
          <p:nvPr/>
        </p:nvSpPr>
        <p:spPr>
          <a:xfrm>
            <a:off x="320040" y="1097280"/>
            <a:ext cx="11548872" cy="475488"/>
          </a:xfrm>
          <a:prstGeom prst="roundRect">
            <a:avLst>
              <a:gd name="adj" fmla="val 2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2400" b="1" i="0">
                <a:solidFill>
                  <a:srgbClr val="FFFFFF"/>
                </a:solidFill>
                <a:latin typeface="Arial" panose="020B0604020202020204"/>
              </a:rPr>
              <a:t>Immersive Multi-Domain Decision-Making Trainer</a:t>
            </a:r>
            <a:endParaRPr sz="2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63" name="Problem header"/>
          <p:cNvSpPr/>
          <p:nvPr/>
        </p:nvSpPr>
        <p:spPr>
          <a:xfrm>
            <a:off x="320040" y="1691640"/>
            <a:ext cx="3657600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Problem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64" name="Problem body"/>
          <p:cNvSpPr/>
          <p:nvPr/>
        </p:nvSpPr>
        <p:spPr>
          <a:xfrm>
            <a:off x="320040" y="2029967"/>
            <a:ext cx="3657600" cy="3063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6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Critical decisions may be needed when communication is degraded, delayed, intermittent or unavailable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Conventional training may not reproduce realistic communication-loss conditions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Trainees must practise deciding with incomplete, delayed or conflicting information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Multi-domain situations link land, air, maritime, cyber and other information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6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Repeated realistic training builds decision-making, coordination and situational awareness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5365" name="Proposed Solution header"/>
          <p:cNvSpPr/>
          <p:nvPr/>
        </p:nvSpPr>
        <p:spPr>
          <a:xfrm>
            <a:off x="4114800" y="1691640"/>
            <a:ext cx="3977639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Proposed Solution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66" name="Proposed Solution body"/>
          <p:cNvSpPr/>
          <p:nvPr/>
        </p:nvSpPr>
        <p:spPr>
          <a:xfrm>
            <a:off x="4114800" y="2029967"/>
            <a:ext cx="3977639" cy="3063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algn="l">
              <a:spcAft>
                <a:spcPts val="600"/>
              </a:spcAft>
            </a:pPr>
            <a:r>
              <a:rPr sz="1250" b="1" i="0">
                <a:solidFill>
                  <a:srgbClr val="1F3864"/>
                </a:solidFill>
                <a:latin typeface="Arial" panose="020B0604020202020204"/>
              </a:rPr>
              <a:t>Immersive, software-based training platform </a:t>
            </a: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simulating multi-domain scenarios under degraded communication.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Configurable multi-domain scenarios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Simulated delay, interruption and information loss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Trainee decides on information available at that moment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Records decisions, response time and actions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Performance evaluation with after-action feedback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Repeatable at varying difficulty levels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5367" name="Flow header"/>
          <p:cNvSpPr/>
          <p:nvPr/>
        </p:nvSpPr>
        <p:spPr>
          <a:xfrm>
            <a:off x="8229600" y="1691640"/>
            <a:ext cx="3639312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Core Innovation Flow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68" name="Flow body"/>
          <p:cNvSpPr/>
          <p:nvPr/>
        </p:nvSpPr>
        <p:spPr>
          <a:xfrm>
            <a:off x="8229600" y="2029968"/>
            <a:ext cx="3639312" cy="3063240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69" name="Flow step 1"/>
          <p:cNvSpPr/>
          <p:nvPr/>
        </p:nvSpPr>
        <p:spPr>
          <a:xfrm>
            <a:off x="8549640" y="2157984"/>
            <a:ext cx="2999232" cy="3657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Scenario Generation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70" name="flow arrow"/>
          <p:cNvSpPr/>
          <p:nvPr/>
        </p:nvSpPr>
        <p:spPr>
          <a:xfrm rot="10800000">
            <a:off x="9948672" y="2537460"/>
            <a:ext cx="201168" cy="8686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1" name="Flow step 2"/>
          <p:cNvSpPr/>
          <p:nvPr/>
        </p:nvSpPr>
        <p:spPr>
          <a:xfrm>
            <a:off x="8549640" y="2633472"/>
            <a:ext cx="2999232" cy="3657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Multi-Domain Environment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72" name="flow arrow"/>
          <p:cNvSpPr/>
          <p:nvPr/>
        </p:nvSpPr>
        <p:spPr>
          <a:xfrm rot="10800000">
            <a:off x="9948672" y="3012948"/>
            <a:ext cx="201168" cy="8686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3" name="Flow step 3"/>
          <p:cNvSpPr/>
          <p:nvPr/>
        </p:nvSpPr>
        <p:spPr>
          <a:xfrm>
            <a:off x="8549640" y="3108960"/>
            <a:ext cx="2999232" cy="365760"/>
          </a:xfrm>
          <a:prstGeom prst="roundRect">
            <a:avLst>
              <a:gd name="adj" fmla="val 2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Communication Degradation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74" name="flow arrow"/>
          <p:cNvSpPr/>
          <p:nvPr/>
        </p:nvSpPr>
        <p:spPr>
          <a:xfrm rot="10800000">
            <a:off x="9948672" y="3488436"/>
            <a:ext cx="201168" cy="8686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5" name="Flow step 4"/>
          <p:cNvSpPr/>
          <p:nvPr/>
        </p:nvSpPr>
        <p:spPr>
          <a:xfrm>
            <a:off x="8549640" y="3584448"/>
            <a:ext cx="2999232" cy="3657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Trainee Decision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76" name="flow arrow"/>
          <p:cNvSpPr/>
          <p:nvPr/>
        </p:nvSpPr>
        <p:spPr>
          <a:xfrm rot="10800000">
            <a:off x="9948672" y="3963924"/>
            <a:ext cx="201168" cy="8686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7" name="Flow step 5"/>
          <p:cNvSpPr/>
          <p:nvPr/>
        </p:nvSpPr>
        <p:spPr>
          <a:xfrm>
            <a:off x="8549640" y="4059936"/>
            <a:ext cx="2999232" cy="3657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Performance Evaluation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78" name="flow arrow"/>
          <p:cNvSpPr/>
          <p:nvPr/>
        </p:nvSpPr>
        <p:spPr>
          <a:xfrm rot="10800000">
            <a:off x="9948672" y="4439412"/>
            <a:ext cx="201168" cy="86868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79" name="Flow step 6"/>
          <p:cNvSpPr/>
          <p:nvPr/>
        </p:nvSpPr>
        <p:spPr>
          <a:xfrm>
            <a:off x="8549640" y="4535424"/>
            <a:ext cx="2999232" cy="365760"/>
          </a:xfrm>
          <a:prstGeom prst="roundRect">
            <a:avLst>
              <a:gd name="adj" fmla="val 20000"/>
            </a:avLst>
          </a:prstGeom>
          <a:solidFill>
            <a:srgbClr val="2E8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After-Action Feedback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80" name="Key innovation frame"/>
          <p:cNvSpPr/>
          <p:nvPr/>
        </p:nvSpPr>
        <p:spPr>
          <a:xfrm>
            <a:off x="320040" y="5230368"/>
            <a:ext cx="11548872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81" name="Key innovation label"/>
          <p:cNvSpPr/>
          <p:nvPr/>
        </p:nvSpPr>
        <p:spPr>
          <a:xfrm>
            <a:off x="320040" y="5230368"/>
            <a:ext cx="2926080" cy="1033271"/>
          </a:xfrm>
          <a:prstGeom prst="roundRect">
            <a:avLst>
              <a:gd name="adj" fmla="val 8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KEY INNOVATION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  <a:p>
            <a:pPr algn="l"/>
            <a:r>
              <a:rPr sz="1400" b="1" i="0">
                <a:solidFill>
                  <a:srgbClr val="FFFFFF"/>
                </a:solidFill>
                <a:latin typeface="Arial" panose="020B0604020202020204"/>
              </a:rPr>
              <a:t>Adaptive Degraded-Communication Decision Engine</a:t>
            </a:r>
            <a:endParaRPr sz="14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382" name="Key innovation text"/>
          <p:cNvSpPr txBox="1"/>
          <p:nvPr/>
        </p:nvSpPr>
        <p:spPr>
          <a:xfrm>
            <a:off x="3337560" y="5266944"/>
            <a:ext cx="8458200" cy="457200"/>
          </a:xfrm>
          <a:prstGeom prst="rect">
            <a:avLst/>
          </a:prstGeom>
          <a:noFill/>
        </p:spPr>
        <p:txBody>
          <a:bodyPr wrap="square" lIns="45720" tIns="18288" rIns="45720" bIns="18288" anchor="t"/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Instead of a fixed simulation, the system dynamically changes the availability, timing and reliability of information. </a:t>
            </a:r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Immersive Simulation + Communication Degradation + Decision Evaluation + Adaptive Feedback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5383" name="Evaluated skill"/>
          <p:cNvSpPr/>
          <p:nvPr/>
        </p:nvSpPr>
        <p:spPr>
          <a:xfrm>
            <a:off x="3383280" y="5797296"/>
            <a:ext cx="1371600" cy="393192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 panose="020B0604020202020204"/>
              </a:rPr>
              <a:t>Interprets incomplete info</a:t>
            </a:r>
            <a:endParaRPr sz="100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5384" name="Evaluated skill"/>
          <p:cNvSpPr/>
          <p:nvPr/>
        </p:nvSpPr>
        <p:spPr>
          <a:xfrm>
            <a:off x="4809744" y="5797296"/>
            <a:ext cx="1371600" cy="393192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 panose="020B0604020202020204"/>
              </a:rPr>
              <a:t>Prioritizes critical information</a:t>
            </a:r>
            <a:endParaRPr sz="100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5385" name="Evaluated skill"/>
          <p:cNvSpPr/>
          <p:nvPr/>
        </p:nvSpPr>
        <p:spPr>
          <a:xfrm>
            <a:off x="6236208" y="5797296"/>
            <a:ext cx="1371600" cy="393192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 panose="020B0604020202020204"/>
              </a:rPr>
              <a:t>Responds under time pressure</a:t>
            </a:r>
            <a:endParaRPr sz="100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5386" name="Evaluated skill"/>
          <p:cNvSpPr/>
          <p:nvPr/>
        </p:nvSpPr>
        <p:spPr>
          <a:xfrm>
            <a:off x="7662672" y="5797296"/>
            <a:ext cx="1371600" cy="393192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 panose="020B0604020202020204"/>
              </a:rPr>
              <a:t>Adapts to communication loss</a:t>
            </a:r>
            <a:endParaRPr sz="100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5387" name="Evaluated skill"/>
          <p:cNvSpPr/>
          <p:nvPr/>
        </p:nvSpPr>
        <p:spPr>
          <a:xfrm>
            <a:off x="9089136" y="5797296"/>
            <a:ext cx="1371600" cy="393192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 panose="020B0604020202020204"/>
              </a:rPr>
              <a:t>Decides under uncertainty</a:t>
            </a:r>
            <a:endParaRPr sz="100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5388" name="Evaluated skill"/>
          <p:cNvSpPr/>
          <p:nvPr/>
        </p:nvSpPr>
        <p:spPr>
          <a:xfrm>
            <a:off x="10515600" y="5797296"/>
            <a:ext cx="1371600" cy="393192"/>
          </a:xfrm>
          <a:prstGeom prst="roundRect">
            <a:avLst>
              <a:gd name="adj" fmla="val 2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000" b="1" i="0">
                <a:solidFill>
                  <a:srgbClr val="1F3864"/>
                </a:solidFill>
                <a:latin typeface="Arial" panose="020B0604020202020204"/>
              </a:rPr>
              <a:t>Coordinates across domains</a:t>
            </a:r>
            <a:endParaRPr sz="1000" b="1" i="0">
              <a:solidFill>
                <a:srgbClr val="1F386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TECHNICAL APPROACH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>
                <a:sym typeface="+mn-ea"/>
              </a:rPr>
              <a:t>     Code Crew</a:t>
            </a:r>
            <a:endParaRPr lang="en-US" alt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ch header"/>
          <p:cNvSpPr/>
          <p:nvPr/>
        </p:nvSpPr>
        <p:spPr>
          <a:xfrm>
            <a:off x="320040" y="1143000"/>
            <a:ext cx="4206240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Technology Stack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1" name="Frontend label"/>
          <p:cNvSpPr/>
          <p:nvPr/>
        </p:nvSpPr>
        <p:spPr>
          <a:xfrm>
            <a:off x="320040" y="1508760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Frontend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2" name="Frontend value"/>
          <p:cNvSpPr/>
          <p:nvPr/>
        </p:nvSpPr>
        <p:spPr>
          <a:xfrm>
            <a:off x="1554480" y="1508760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HTML5 / CSS3 / JavaScript or modern web framework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3" name="Frontend status"/>
          <p:cNvSpPr/>
          <p:nvPr/>
        </p:nvSpPr>
        <p:spPr>
          <a:xfrm>
            <a:off x="3566160" y="1508760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0070C0"/>
                </a:solidFill>
                <a:latin typeface="Arial" panose="020B0604020202020204"/>
              </a:rPr>
              <a:t>Prototype</a:t>
            </a:r>
            <a:endParaRPr sz="900" b="1" i="0">
              <a:solidFill>
                <a:srgbClr val="0070C0"/>
              </a:solidFill>
              <a:latin typeface="Arial" panose="020B0604020202020204"/>
            </a:endParaRPr>
          </a:p>
        </p:txBody>
      </p:sp>
      <p:sp>
        <p:nvSpPr>
          <p:cNvPr id="17414" name="Simulation Engine label"/>
          <p:cNvSpPr/>
          <p:nvPr/>
        </p:nvSpPr>
        <p:spPr>
          <a:xfrm>
            <a:off x="320040" y="1947672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Simulation Engine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5" name="Simulation Engine value"/>
          <p:cNvSpPr/>
          <p:nvPr/>
        </p:nvSpPr>
        <p:spPr>
          <a:xfrm>
            <a:off x="1554480" y="1947672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Scenario-based simulation framework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6" name="Simulation Engine status"/>
          <p:cNvSpPr/>
          <p:nvPr/>
        </p:nvSpPr>
        <p:spPr>
          <a:xfrm>
            <a:off x="3566160" y="1947672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0070C0"/>
                </a:solidFill>
                <a:latin typeface="Arial" panose="020B0604020202020204"/>
              </a:rPr>
              <a:t>Prototype</a:t>
            </a:r>
            <a:endParaRPr sz="900" b="1" i="0">
              <a:solidFill>
                <a:srgbClr val="0070C0"/>
              </a:solidFill>
              <a:latin typeface="Arial" panose="020B0604020202020204"/>
            </a:endParaRPr>
          </a:p>
        </p:txBody>
      </p:sp>
      <p:sp>
        <p:nvSpPr>
          <p:cNvPr id="17417" name="Backend label"/>
          <p:cNvSpPr/>
          <p:nvPr/>
        </p:nvSpPr>
        <p:spPr>
          <a:xfrm>
            <a:off x="320040" y="2386584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Backend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8" name="Backend value"/>
          <p:cNvSpPr/>
          <p:nvPr/>
        </p:nvSpPr>
        <p:spPr>
          <a:xfrm>
            <a:off x="1554480" y="2386584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Python / Node.js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9" name="Backend status"/>
          <p:cNvSpPr/>
          <p:nvPr/>
        </p:nvSpPr>
        <p:spPr>
          <a:xfrm>
            <a:off x="3566160" y="2386584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0070C0"/>
                </a:solidFill>
                <a:latin typeface="Arial" panose="020B0604020202020204"/>
              </a:rPr>
              <a:t>Prototype</a:t>
            </a:r>
            <a:endParaRPr sz="900" b="1" i="0">
              <a:solidFill>
                <a:srgbClr val="0070C0"/>
              </a:solidFill>
              <a:latin typeface="Arial" panose="020B0604020202020204"/>
            </a:endParaRPr>
          </a:p>
        </p:txBody>
      </p:sp>
      <p:sp>
        <p:nvSpPr>
          <p:cNvPr id="17420" name="Database label"/>
          <p:cNvSpPr/>
          <p:nvPr/>
        </p:nvSpPr>
        <p:spPr>
          <a:xfrm>
            <a:off x="320040" y="2825496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Database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1" name="Database value"/>
          <p:cNvSpPr/>
          <p:nvPr/>
        </p:nvSpPr>
        <p:spPr>
          <a:xfrm>
            <a:off x="1554480" y="2825496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SQLite for prototype; PostgreSQL later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2" name="Database status"/>
          <p:cNvSpPr/>
          <p:nvPr/>
        </p:nvSpPr>
        <p:spPr>
          <a:xfrm>
            <a:off x="3566160" y="2825496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E87722"/>
                </a:solidFill>
                <a:latin typeface="Arial" panose="020B0604020202020204"/>
              </a:rPr>
              <a:t>Prototype + Future</a:t>
            </a:r>
            <a:endParaRPr sz="900" b="1" i="0">
              <a:solidFill>
                <a:srgbClr val="E87722"/>
              </a:solidFill>
              <a:latin typeface="Arial" panose="020B0604020202020204"/>
            </a:endParaRPr>
          </a:p>
        </p:txBody>
      </p:sp>
      <p:sp>
        <p:nvSpPr>
          <p:cNvPr id="17423" name="Decision Support label"/>
          <p:cNvSpPr/>
          <p:nvPr/>
        </p:nvSpPr>
        <p:spPr>
          <a:xfrm>
            <a:off x="320040" y="3264408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Decision Support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4" name="Decision Support value"/>
          <p:cNvSpPr/>
          <p:nvPr/>
        </p:nvSpPr>
        <p:spPr>
          <a:xfrm>
            <a:off x="1554480" y="3264408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Rule-based engine; scope for ML integration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5" name="Decision Support status"/>
          <p:cNvSpPr/>
          <p:nvPr/>
        </p:nvSpPr>
        <p:spPr>
          <a:xfrm>
            <a:off x="3566160" y="3264408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E87722"/>
                </a:solidFill>
                <a:latin typeface="Arial" panose="020B0604020202020204"/>
              </a:rPr>
              <a:t>Prototype + Future</a:t>
            </a:r>
            <a:endParaRPr sz="900" b="1" i="0">
              <a:solidFill>
                <a:srgbClr val="E87722"/>
              </a:solidFill>
              <a:latin typeface="Arial" panose="020B0604020202020204"/>
            </a:endParaRPr>
          </a:p>
        </p:txBody>
      </p:sp>
      <p:sp>
        <p:nvSpPr>
          <p:cNvPr id="17426" name="Visualization label"/>
          <p:cNvSpPr/>
          <p:nvPr/>
        </p:nvSpPr>
        <p:spPr>
          <a:xfrm>
            <a:off x="320040" y="3703320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Visualization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7" name="Visualization value"/>
          <p:cNvSpPr/>
          <p:nvPr/>
        </p:nvSpPr>
        <p:spPr>
          <a:xfrm>
            <a:off x="1554480" y="3703320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Dashboards, charts, maps, simulation views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8" name="Visualization status"/>
          <p:cNvSpPr/>
          <p:nvPr/>
        </p:nvSpPr>
        <p:spPr>
          <a:xfrm>
            <a:off x="3566160" y="3703320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0070C0"/>
                </a:solidFill>
                <a:latin typeface="Arial" panose="020B0604020202020204"/>
              </a:rPr>
              <a:t>Prototype</a:t>
            </a:r>
            <a:endParaRPr sz="900" b="1" i="0">
              <a:solidFill>
                <a:srgbClr val="0070C0"/>
              </a:solidFill>
              <a:latin typeface="Arial" panose="020B0604020202020204"/>
            </a:endParaRPr>
          </a:p>
        </p:txBody>
      </p:sp>
      <p:sp>
        <p:nvSpPr>
          <p:cNvPr id="17429" name="Comm. Simulation label"/>
          <p:cNvSpPr/>
          <p:nvPr/>
        </p:nvSpPr>
        <p:spPr>
          <a:xfrm>
            <a:off x="320040" y="4142231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Comm. Simulation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0" name="Comm. Simulation value"/>
          <p:cNvSpPr/>
          <p:nvPr/>
        </p:nvSpPr>
        <p:spPr>
          <a:xfrm>
            <a:off x="1554480" y="4142231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Configurable delay, interruption, information loss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31" name="Comm. Simulation status"/>
          <p:cNvSpPr/>
          <p:nvPr/>
        </p:nvSpPr>
        <p:spPr>
          <a:xfrm>
            <a:off x="3566160" y="4142231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0070C0"/>
                </a:solidFill>
                <a:latin typeface="Arial" panose="020B0604020202020204"/>
              </a:rPr>
              <a:t>Prototype</a:t>
            </a:r>
            <a:endParaRPr sz="900" b="1" i="0">
              <a:solidFill>
                <a:srgbClr val="0070C0"/>
              </a:solidFill>
              <a:latin typeface="Arial" panose="020B0604020202020204"/>
            </a:endParaRPr>
          </a:p>
        </p:txBody>
      </p:sp>
      <p:sp>
        <p:nvSpPr>
          <p:cNvPr id="17432" name="Deployment label"/>
          <p:cNvSpPr/>
          <p:nvPr/>
        </p:nvSpPr>
        <p:spPr>
          <a:xfrm>
            <a:off x="320040" y="4581144"/>
            <a:ext cx="1188720" cy="402336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 panose="020B0604020202020204"/>
              </a:rPr>
              <a:t>Deployment</a:t>
            </a:r>
            <a:endParaRPr sz="10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3" name="Deployment value"/>
          <p:cNvSpPr/>
          <p:nvPr/>
        </p:nvSpPr>
        <p:spPr>
          <a:xfrm>
            <a:off x="1554480" y="4581144"/>
            <a:ext cx="1965960" cy="402336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45720" bIns="18288" rtlCol="0" anchor="ctr"/>
          <a:lstStyle/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Local / secure institutional; cloud / edge later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34" name="Deployment status"/>
          <p:cNvSpPr/>
          <p:nvPr/>
        </p:nvSpPr>
        <p:spPr>
          <a:xfrm>
            <a:off x="3566160" y="4581144"/>
            <a:ext cx="960120" cy="4023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900" b="1" i="0">
                <a:solidFill>
                  <a:srgbClr val="E87722"/>
                </a:solidFill>
                <a:latin typeface="Arial" panose="020B0604020202020204"/>
              </a:rPr>
              <a:t>Future</a:t>
            </a:r>
            <a:endParaRPr sz="900" b="1" i="0">
              <a:solidFill>
                <a:srgbClr val="E87722"/>
              </a:solidFill>
              <a:latin typeface="Arial" panose="020B0604020202020204"/>
            </a:endParaRPr>
          </a:p>
        </p:txBody>
      </p:sp>
      <p:sp>
        <p:nvSpPr>
          <p:cNvPr id="17435" name="Methodology header"/>
          <p:cNvSpPr/>
          <p:nvPr/>
        </p:nvSpPr>
        <p:spPr>
          <a:xfrm>
            <a:off x="4709160" y="1143000"/>
            <a:ext cx="3566160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AI / Decision Methodology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6" name="Method step 1"/>
          <p:cNvSpPr/>
          <p:nvPr/>
        </p:nvSpPr>
        <p:spPr>
          <a:xfrm>
            <a:off x="4709160" y="1508760"/>
            <a:ext cx="3566160" cy="41148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step no."/>
          <p:cNvSpPr/>
          <p:nvPr/>
        </p:nvSpPr>
        <p:spPr>
          <a:xfrm>
            <a:off x="4764024" y="1577339"/>
            <a:ext cx="274320" cy="2743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8" name="Method text 1"/>
          <p:cNvSpPr txBox="1"/>
          <p:nvPr/>
        </p:nvSpPr>
        <p:spPr>
          <a:xfrm>
            <a:off x="5074920" y="1508760"/>
            <a:ext cx="3154679" cy="411480"/>
          </a:xfrm>
          <a:prstGeom prst="rect">
            <a:avLst/>
          </a:prstGeom>
          <a:noFill/>
        </p:spPr>
        <p:txBody>
          <a:bodyPr wrap="square" lIns="36576" tIns="9144" rIns="36576" bIns="9144" anchor="ctr"/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SCENARIO GENERATION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Configurable multi-domain scenario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39" name="flow arrow"/>
          <p:cNvSpPr/>
          <p:nvPr/>
        </p:nvSpPr>
        <p:spPr>
          <a:xfrm rot="10800000">
            <a:off x="6400800" y="1920240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0" name="Method step 2"/>
          <p:cNvSpPr/>
          <p:nvPr/>
        </p:nvSpPr>
        <p:spPr>
          <a:xfrm>
            <a:off x="4709160" y="2011680"/>
            <a:ext cx="3566160" cy="41148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1" name="step no."/>
          <p:cNvSpPr/>
          <p:nvPr/>
        </p:nvSpPr>
        <p:spPr>
          <a:xfrm>
            <a:off x="4764024" y="2080260"/>
            <a:ext cx="274320" cy="27432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42" name="Method text 2"/>
          <p:cNvSpPr txBox="1"/>
          <p:nvPr/>
        </p:nvSpPr>
        <p:spPr>
          <a:xfrm>
            <a:off x="5074920" y="2011680"/>
            <a:ext cx="3154679" cy="411480"/>
          </a:xfrm>
          <a:prstGeom prst="rect">
            <a:avLst/>
          </a:prstGeom>
          <a:noFill/>
        </p:spPr>
        <p:txBody>
          <a:bodyPr wrap="square" lIns="36576" tIns="9144" rIns="36576" bIns="9144" anchor="ctr"/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COMMUNICATION DEGRADATION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Controlled delay, interruption, loss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43" name="flow arrow"/>
          <p:cNvSpPr/>
          <p:nvPr/>
        </p:nvSpPr>
        <p:spPr>
          <a:xfrm rot="10800000">
            <a:off x="6400800" y="2423160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4" name="Method step 3"/>
          <p:cNvSpPr/>
          <p:nvPr/>
        </p:nvSpPr>
        <p:spPr>
          <a:xfrm>
            <a:off x="4709160" y="2514600"/>
            <a:ext cx="3566160" cy="41148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5" name="step no."/>
          <p:cNvSpPr/>
          <p:nvPr/>
        </p:nvSpPr>
        <p:spPr>
          <a:xfrm>
            <a:off x="4764024" y="2583180"/>
            <a:ext cx="274320" cy="2743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46" name="Method text 3"/>
          <p:cNvSpPr txBox="1"/>
          <p:nvPr/>
        </p:nvSpPr>
        <p:spPr>
          <a:xfrm>
            <a:off x="5074920" y="2514600"/>
            <a:ext cx="3154679" cy="411480"/>
          </a:xfrm>
          <a:prstGeom prst="rect">
            <a:avLst/>
          </a:prstGeom>
          <a:noFill/>
        </p:spPr>
        <p:txBody>
          <a:bodyPr wrap="square" lIns="36576" tIns="9144" rIns="36576" bIns="9144" anchor="ctr"/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INFORMATION PROCESSING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What is available, delayed, missing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47" name="flow arrow"/>
          <p:cNvSpPr/>
          <p:nvPr/>
        </p:nvSpPr>
        <p:spPr>
          <a:xfrm rot="10800000">
            <a:off x="6400800" y="2926080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8" name="Method step 4"/>
          <p:cNvSpPr/>
          <p:nvPr/>
        </p:nvSpPr>
        <p:spPr>
          <a:xfrm>
            <a:off x="4709160" y="3017520"/>
            <a:ext cx="3566160" cy="41148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49" name="step no."/>
          <p:cNvSpPr/>
          <p:nvPr/>
        </p:nvSpPr>
        <p:spPr>
          <a:xfrm>
            <a:off x="4764024" y="3086100"/>
            <a:ext cx="274320" cy="2743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50" name="Method text 4"/>
          <p:cNvSpPr txBox="1"/>
          <p:nvPr/>
        </p:nvSpPr>
        <p:spPr>
          <a:xfrm>
            <a:off x="5074920" y="3017520"/>
            <a:ext cx="3154679" cy="411480"/>
          </a:xfrm>
          <a:prstGeom prst="rect">
            <a:avLst/>
          </a:prstGeom>
          <a:noFill/>
        </p:spPr>
        <p:txBody>
          <a:bodyPr wrap="square" lIns="36576" tIns="9144" rIns="36576" bIns="9144" anchor="ctr"/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DECISION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Trainee evaluates and selects an action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51" name="flow arrow"/>
          <p:cNvSpPr/>
          <p:nvPr/>
        </p:nvSpPr>
        <p:spPr>
          <a:xfrm rot="10800000">
            <a:off x="6400800" y="3429000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2" name="Method step 5"/>
          <p:cNvSpPr/>
          <p:nvPr/>
        </p:nvSpPr>
        <p:spPr>
          <a:xfrm>
            <a:off x="4709160" y="3520440"/>
            <a:ext cx="3566160" cy="41148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3" name="step no."/>
          <p:cNvSpPr/>
          <p:nvPr/>
        </p:nvSpPr>
        <p:spPr>
          <a:xfrm>
            <a:off x="4764024" y="3589020"/>
            <a:ext cx="274320" cy="2743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54" name="Method text 5"/>
          <p:cNvSpPr txBox="1"/>
          <p:nvPr/>
        </p:nvSpPr>
        <p:spPr>
          <a:xfrm>
            <a:off x="5074920" y="3520440"/>
            <a:ext cx="3154679" cy="411480"/>
          </a:xfrm>
          <a:prstGeom prst="rect">
            <a:avLst/>
          </a:prstGeom>
          <a:noFill/>
        </p:spPr>
        <p:txBody>
          <a:bodyPr wrap="square" lIns="36576" tIns="9144" rIns="36576" bIns="9144" anchor="ctr"/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PERFORMANCE ANALYSIS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Quality, response time, information use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55" name="flow arrow"/>
          <p:cNvSpPr/>
          <p:nvPr/>
        </p:nvSpPr>
        <p:spPr>
          <a:xfrm rot="10800000">
            <a:off x="6400800" y="3931920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6" name="Method step 6"/>
          <p:cNvSpPr/>
          <p:nvPr/>
        </p:nvSpPr>
        <p:spPr>
          <a:xfrm>
            <a:off x="4709160" y="4023360"/>
            <a:ext cx="3566160" cy="41148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57" name="step no."/>
          <p:cNvSpPr/>
          <p:nvPr/>
        </p:nvSpPr>
        <p:spPr>
          <a:xfrm>
            <a:off x="4764024" y="4091940"/>
            <a:ext cx="274320" cy="2743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58" name="Method text 6"/>
          <p:cNvSpPr txBox="1"/>
          <p:nvPr/>
        </p:nvSpPr>
        <p:spPr>
          <a:xfrm>
            <a:off x="5074920" y="4023360"/>
            <a:ext cx="3154679" cy="411480"/>
          </a:xfrm>
          <a:prstGeom prst="rect">
            <a:avLst/>
          </a:prstGeom>
          <a:noFill/>
        </p:spPr>
        <p:txBody>
          <a:bodyPr wrap="square" lIns="36576" tIns="9144" rIns="36576" bIns="9144" anchor="ctr"/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FEEDBACK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Strengths, errors and missed information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59" name="flow arrow"/>
          <p:cNvSpPr/>
          <p:nvPr/>
        </p:nvSpPr>
        <p:spPr>
          <a:xfrm rot="10800000">
            <a:off x="6400800" y="4434840"/>
            <a:ext cx="182880" cy="91440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0" name="Method step 7"/>
          <p:cNvSpPr/>
          <p:nvPr/>
        </p:nvSpPr>
        <p:spPr>
          <a:xfrm>
            <a:off x="4709160" y="4526280"/>
            <a:ext cx="3566160" cy="41148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1" name="step no."/>
          <p:cNvSpPr/>
          <p:nvPr/>
        </p:nvSpPr>
        <p:spPr>
          <a:xfrm>
            <a:off x="4764024" y="4594860"/>
            <a:ext cx="274320" cy="274320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7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62" name="Method text 7"/>
          <p:cNvSpPr txBox="1"/>
          <p:nvPr/>
        </p:nvSpPr>
        <p:spPr>
          <a:xfrm>
            <a:off x="5074920" y="4526280"/>
            <a:ext cx="3154679" cy="411480"/>
          </a:xfrm>
          <a:prstGeom prst="rect">
            <a:avLst/>
          </a:prstGeom>
          <a:noFill/>
        </p:spPr>
        <p:txBody>
          <a:bodyPr wrap="square" lIns="36576" tIns="9144" rIns="36576" bIns="9144" anchor="ctr"/>
          <a:lstStyle/>
          <a:p>
            <a:pPr algn="l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ADAPTATION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00" b="0" i="0">
                <a:solidFill>
                  <a:srgbClr val="1A1A1A"/>
                </a:solidFill>
                <a:latin typeface="Arial" panose="020B0604020202020204"/>
              </a:rPr>
              <a:t>Complexity raised or lowered by performance</a:t>
            </a:r>
            <a:endParaRPr sz="10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63" name="Architecture header"/>
          <p:cNvSpPr/>
          <p:nvPr/>
        </p:nvSpPr>
        <p:spPr>
          <a:xfrm>
            <a:off x="8458200" y="1143000"/>
            <a:ext cx="3410712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System Architecture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64" name="Architecture layer 1"/>
          <p:cNvSpPr/>
          <p:nvPr/>
        </p:nvSpPr>
        <p:spPr>
          <a:xfrm>
            <a:off x="8458200" y="1508760"/>
            <a:ext cx="3410712" cy="4572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Trainee Interface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65" name="flow arrow"/>
          <p:cNvSpPr/>
          <p:nvPr/>
        </p:nvSpPr>
        <p:spPr>
          <a:xfrm rot="10800000">
            <a:off x="10062972" y="1984248"/>
            <a:ext cx="201168" cy="10058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6" name="Architecture layer 2"/>
          <p:cNvSpPr/>
          <p:nvPr/>
        </p:nvSpPr>
        <p:spPr>
          <a:xfrm>
            <a:off x="8458200" y="2103120"/>
            <a:ext cx="3410712" cy="4572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Scenario &amp; Simulation Engine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67" name="flow arrow"/>
          <p:cNvSpPr/>
          <p:nvPr/>
        </p:nvSpPr>
        <p:spPr>
          <a:xfrm rot="10800000">
            <a:off x="10062972" y="2578608"/>
            <a:ext cx="201168" cy="10058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68" name="Architecture layer 3"/>
          <p:cNvSpPr/>
          <p:nvPr/>
        </p:nvSpPr>
        <p:spPr>
          <a:xfrm>
            <a:off x="8458200" y="2697479"/>
            <a:ext cx="3410712" cy="457200"/>
          </a:xfrm>
          <a:prstGeom prst="roundRect">
            <a:avLst>
              <a:gd name="adj" fmla="val 15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Communication Degradation Engine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69" name="flow arrow"/>
          <p:cNvSpPr/>
          <p:nvPr/>
        </p:nvSpPr>
        <p:spPr>
          <a:xfrm rot="10800000">
            <a:off x="10062972" y="3172968"/>
            <a:ext cx="201168" cy="10058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0" name="Architecture layer 4"/>
          <p:cNvSpPr/>
          <p:nvPr/>
        </p:nvSpPr>
        <p:spPr>
          <a:xfrm>
            <a:off x="8458200" y="3291839"/>
            <a:ext cx="3410712" cy="4572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Decision Evaluation Engine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71" name="flow arrow"/>
          <p:cNvSpPr/>
          <p:nvPr/>
        </p:nvSpPr>
        <p:spPr>
          <a:xfrm rot="10800000">
            <a:off x="10062972" y="3767327"/>
            <a:ext cx="201168" cy="10058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2" name="Architecture layer 5"/>
          <p:cNvSpPr/>
          <p:nvPr/>
        </p:nvSpPr>
        <p:spPr>
          <a:xfrm>
            <a:off x="8458200" y="3886200"/>
            <a:ext cx="3410712" cy="457200"/>
          </a:xfrm>
          <a:prstGeom prst="roundRect">
            <a:avLst>
              <a:gd name="adj" fmla="val 15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Database / Performance Records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73" name="flow arrow"/>
          <p:cNvSpPr/>
          <p:nvPr/>
        </p:nvSpPr>
        <p:spPr>
          <a:xfrm rot="10800000">
            <a:off x="10062972" y="4361688"/>
            <a:ext cx="201168" cy="10058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4" name="Architecture layer 6"/>
          <p:cNvSpPr/>
          <p:nvPr/>
        </p:nvSpPr>
        <p:spPr>
          <a:xfrm>
            <a:off x="8458200" y="4480560"/>
            <a:ext cx="3410712" cy="457200"/>
          </a:xfrm>
          <a:prstGeom prst="roundRect">
            <a:avLst>
              <a:gd name="adj" fmla="val 15000"/>
            </a:avLst>
          </a:prstGeom>
          <a:solidFill>
            <a:srgbClr val="2E8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Analytics &amp; Feedback Dashboard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75" name="Demo flow header"/>
          <p:cNvSpPr/>
          <p:nvPr/>
        </p:nvSpPr>
        <p:spPr>
          <a:xfrm>
            <a:off x="320040" y="5074920"/>
            <a:ext cx="1828800" cy="27432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Prototype Demo Flow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76" name="Demo step 1"/>
          <p:cNvSpPr/>
          <p:nvPr/>
        </p:nvSpPr>
        <p:spPr>
          <a:xfrm>
            <a:off x="320040" y="5404104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1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Login / Trainee Profile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77" name="flow arrow"/>
          <p:cNvSpPr/>
          <p:nvPr/>
        </p:nvSpPr>
        <p:spPr>
          <a:xfrm rot="5400000">
            <a:off x="2116836" y="5513832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78" name="Demo step 2"/>
          <p:cNvSpPr/>
          <p:nvPr/>
        </p:nvSpPr>
        <p:spPr>
          <a:xfrm>
            <a:off x="2276856" y="5404104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2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Select Training Scenario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79" name="flow arrow"/>
          <p:cNvSpPr/>
          <p:nvPr/>
        </p:nvSpPr>
        <p:spPr>
          <a:xfrm rot="5400000">
            <a:off x="4073652" y="5513832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0" name="Demo step 3"/>
          <p:cNvSpPr/>
          <p:nvPr/>
        </p:nvSpPr>
        <p:spPr>
          <a:xfrm>
            <a:off x="4233672" y="5404104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3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Configure Multi-Domain Environment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81" name="flow arrow"/>
          <p:cNvSpPr/>
          <p:nvPr/>
        </p:nvSpPr>
        <p:spPr>
          <a:xfrm rot="5400000">
            <a:off x="6030468" y="5513832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2" name="Demo step 4"/>
          <p:cNvSpPr/>
          <p:nvPr/>
        </p:nvSpPr>
        <p:spPr>
          <a:xfrm>
            <a:off x="6190488" y="5404104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4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Activate Communication Degradation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83" name="flow arrow"/>
          <p:cNvSpPr/>
          <p:nvPr/>
        </p:nvSpPr>
        <p:spPr>
          <a:xfrm rot="5400000">
            <a:off x="7987283" y="5513832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4" name="Demo step 5"/>
          <p:cNvSpPr/>
          <p:nvPr/>
        </p:nvSpPr>
        <p:spPr>
          <a:xfrm>
            <a:off x="8147304" y="5404104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5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Receive Available Information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85" name="flow arrow"/>
          <p:cNvSpPr/>
          <p:nvPr/>
        </p:nvSpPr>
        <p:spPr>
          <a:xfrm rot="5400000">
            <a:off x="9944100" y="5513832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6" name="Demo step 6"/>
          <p:cNvSpPr/>
          <p:nvPr/>
        </p:nvSpPr>
        <p:spPr>
          <a:xfrm>
            <a:off x="10104120" y="5404104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6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Analyze Situation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87" name="Demo step 7"/>
          <p:cNvSpPr/>
          <p:nvPr/>
        </p:nvSpPr>
        <p:spPr>
          <a:xfrm>
            <a:off x="320040" y="5824728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7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Make Decision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88" name="flow arrow"/>
          <p:cNvSpPr/>
          <p:nvPr/>
        </p:nvSpPr>
        <p:spPr>
          <a:xfrm rot="5400000">
            <a:off x="2116836" y="5934456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89" name="Demo step 8"/>
          <p:cNvSpPr/>
          <p:nvPr/>
        </p:nvSpPr>
        <p:spPr>
          <a:xfrm>
            <a:off x="2276856" y="5824728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8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System Records Decision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90" name="flow arrow"/>
          <p:cNvSpPr/>
          <p:nvPr/>
        </p:nvSpPr>
        <p:spPr>
          <a:xfrm rot="5400000">
            <a:off x="4073652" y="5934456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1" name="Demo step 9"/>
          <p:cNvSpPr/>
          <p:nvPr/>
        </p:nvSpPr>
        <p:spPr>
          <a:xfrm>
            <a:off x="4233672" y="5824728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9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Evaluate Performance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92" name="flow arrow"/>
          <p:cNvSpPr/>
          <p:nvPr/>
        </p:nvSpPr>
        <p:spPr>
          <a:xfrm rot="5400000">
            <a:off x="6030468" y="5934456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3" name="Demo step 10"/>
          <p:cNvSpPr/>
          <p:nvPr/>
        </p:nvSpPr>
        <p:spPr>
          <a:xfrm>
            <a:off x="6190488" y="5824728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10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After-Action Review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94" name="flow arrow"/>
          <p:cNvSpPr/>
          <p:nvPr/>
        </p:nvSpPr>
        <p:spPr>
          <a:xfrm rot="5400000">
            <a:off x="7987283" y="5934456"/>
            <a:ext cx="118872" cy="146304"/>
          </a:xfrm>
          <a:prstGeom prst="triangl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95" name="Demo step 11"/>
          <p:cNvSpPr/>
          <p:nvPr/>
        </p:nvSpPr>
        <p:spPr>
          <a:xfrm>
            <a:off x="8147304" y="5824728"/>
            <a:ext cx="1764792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9144" rIns="36576" bIns="9144" rtlCol="0" anchor="ctr"/>
          <a:lstStyle/>
          <a:p>
            <a:pPr algn="ctr"/>
            <a:r>
              <a:rPr sz="950" b="1" i="0">
                <a:solidFill>
                  <a:srgbClr val="E87722"/>
                </a:solidFill>
                <a:latin typeface="Arial" panose="020B0604020202020204"/>
              </a:rPr>
              <a:t>11  </a:t>
            </a:r>
            <a:r>
              <a:rPr sz="950" b="1" i="0">
                <a:solidFill>
                  <a:srgbClr val="1F3864"/>
                </a:solidFill>
                <a:latin typeface="Arial" panose="020B0604020202020204"/>
              </a:rPr>
              <a:t>Performance Dashboard</a:t>
            </a:r>
            <a:endParaRPr sz="9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96" name="Legend note"/>
          <p:cNvSpPr txBox="1"/>
          <p:nvPr/>
        </p:nvSpPr>
        <p:spPr>
          <a:xfrm>
            <a:off x="10104120" y="5824728"/>
            <a:ext cx="1764792" cy="365760"/>
          </a:xfrm>
          <a:prstGeom prst="rect">
            <a:avLst/>
          </a:prstGeom>
          <a:noFill/>
        </p:spPr>
        <p:txBody>
          <a:bodyPr wrap="square" lIns="18288" tIns="0" rIns="18288" bIns="0" anchor="ctr"/>
          <a:lstStyle/>
          <a:p>
            <a:pPr algn="l"/>
            <a:r>
              <a:rPr sz="900" b="0" i="0">
                <a:solidFill>
                  <a:srgbClr val="595959"/>
                </a:solidFill>
                <a:latin typeface="Arial" panose="020B0604020202020204"/>
              </a:rPr>
              <a:t>Prototype → Future: see status tags</a:t>
            </a:r>
            <a:endParaRPr sz="900" b="0" i="0">
              <a:solidFill>
                <a:srgbClr val="595959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FEASIBILITY AND VIABILITY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>
                <a:sym typeface="+mn-ea"/>
              </a:rPr>
              <a:t>     Code Crew</a:t>
            </a:r>
            <a:endParaRPr lang="en-US" alt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Feasibility header"/>
          <p:cNvSpPr/>
          <p:nvPr/>
        </p:nvSpPr>
        <p:spPr>
          <a:xfrm>
            <a:off x="320040" y="1143000"/>
            <a:ext cx="3840480" cy="310896"/>
          </a:xfrm>
          <a:prstGeom prst="roundRect">
            <a:avLst>
              <a:gd name="adj" fmla="val 20000"/>
            </a:avLst>
          </a:prstGeom>
          <a:solidFill>
            <a:srgbClr val="2E8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Feasibility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1" name="Feasibility body"/>
          <p:cNvSpPr/>
          <p:nvPr/>
        </p:nvSpPr>
        <p:spPr>
          <a:xfrm>
            <a:off x="320040" y="1481328"/>
            <a:ext cx="3840480" cy="3913632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400" b="0" i="0">
                <a:solidFill>
                  <a:srgbClr val="1A1A1A"/>
                </a:solidFill>
                <a:latin typeface="Arial" panose="020B0604020202020204"/>
              </a:rPr>
              <a:t>Software-based: no expensive physical training infrastructure needed</a:t>
            </a:r>
            <a:endParaRPr sz="14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400" b="0" i="0">
                <a:solidFill>
                  <a:srgbClr val="1A1A1A"/>
                </a:solidFill>
                <a:latin typeface="Arial" panose="020B0604020202020204"/>
              </a:rPr>
              <a:t>Scenario parameters configurable to different training requirements</a:t>
            </a:r>
            <a:endParaRPr sz="14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400" b="0" i="0">
                <a:solidFill>
                  <a:srgbClr val="1A1A1A"/>
                </a:solidFill>
                <a:latin typeface="Arial" panose="020B0604020202020204"/>
              </a:rPr>
              <a:t>Degradation simulated digitally through delay, interruption and information-loss parameters</a:t>
            </a:r>
            <a:endParaRPr sz="14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400" b="0" i="0">
                <a:solidFill>
                  <a:srgbClr val="1A1A1A"/>
                </a:solidFill>
                <a:latin typeface="Arial" panose="020B0604020202020204"/>
              </a:rPr>
              <a:t>Modular architecture: more domains and scenarios can be added later</a:t>
            </a:r>
            <a:endParaRPr sz="14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400" b="0" i="0">
                <a:solidFill>
                  <a:srgbClr val="1A1A1A"/>
                </a:solidFill>
                <a:latin typeface="Arial" panose="020B0604020202020204"/>
              </a:rPr>
              <a:t>Starts with rule-based evaluation; advanced AI/ML can follow</a:t>
            </a:r>
            <a:endParaRPr sz="14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900"/>
              </a:spcAft>
              <a:buFont typeface="Arial" panose="020B0604020202020204"/>
              <a:buChar char="•"/>
            </a:pPr>
            <a:r>
              <a:rPr sz="1400" b="0" i="0">
                <a:solidFill>
                  <a:srgbClr val="1A1A1A"/>
                </a:solidFill>
                <a:latin typeface="Arial" panose="020B0604020202020204"/>
              </a:rPr>
              <a:t>Prototype deployable in a controlled local environment</a:t>
            </a:r>
            <a:endParaRPr sz="14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2" name="Challenge header"/>
          <p:cNvSpPr/>
          <p:nvPr/>
        </p:nvSpPr>
        <p:spPr>
          <a:xfrm>
            <a:off x="4343400" y="1143000"/>
            <a:ext cx="3017520" cy="310896"/>
          </a:xfrm>
          <a:prstGeom prst="roundRect">
            <a:avLst>
              <a:gd name="adj" fmla="val 2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Potential Challenges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3" name="Mitigation header"/>
          <p:cNvSpPr/>
          <p:nvPr/>
        </p:nvSpPr>
        <p:spPr>
          <a:xfrm>
            <a:off x="7818120" y="1143000"/>
            <a:ext cx="4050791" cy="310896"/>
          </a:xfrm>
          <a:prstGeom prst="roundRect">
            <a:avLst>
              <a:gd name="adj" fmla="val 20000"/>
            </a:avLst>
          </a:prstGeom>
          <a:solidFill>
            <a:srgbClr val="2E8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Mitigation Strategies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4" name="Challenge 1"/>
          <p:cNvSpPr/>
          <p:nvPr/>
        </p:nvSpPr>
        <p:spPr>
          <a:xfrm>
            <a:off x="4343400" y="1508760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5" name="challenge no."/>
          <p:cNvSpPr/>
          <p:nvPr/>
        </p:nvSpPr>
        <p:spPr>
          <a:xfrm>
            <a:off x="4416552" y="1728216"/>
            <a:ext cx="274320" cy="27432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6" name="Challenge text 1"/>
          <p:cNvSpPr txBox="1"/>
          <p:nvPr/>
        </p:nvSpPr>
        <p:spPr>
          <a:xfrm>
            <a:off x="4727448" y="1508760"/>
            <a:ext cx="260604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Realistic Scenario Modeling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50" b="0" i="0">
                <a:solidFill>
                  <a:srgbClr val="1A1A1A"/>
                </a:solidFill>
                <a:latin typeface="Arial" panose="020B0604020202020204"/>
              </a:rPr>
              <a:t>Representing complex operational environments accurately</a:t>
            </a:r>
            <a:endParaRPr sz="10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7" name="flow arrow"/>
          <p:cNvSpPr/>
          <p:nvPr/>
        </p:nvSpPr>
        <p:spPr>
          <a:xfrm rot="5400000">
            <a:off x="7498079" y="1746504"/>
            <a:ext cx="182880" cy="237744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18" name="Mitigation 1"/>
          <p:cNvSpPr/>
          <p:nvPr/>
        </p:nvSpPr>
        <p:spPr>
          <a:xfrm>
            <a:off x="7818120" y="1508760"/>
            <a:ext cx="405079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Configurable, expert-defined scenario parameters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9" name="Challenge 2"/>
          <p:cNvSpPr/>
          <p:nvPr/>
        </p:nvSpPr>
        <p:spPr>
          <a:xfrm>
            <a:off x="4343400" y="2295144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0" name="challenge no."/>
          <p:cNvSpPr/>
          <p:nvPr/>
        </p:nvSpPr>
        <p:spPr>
          <a:xfrm>
            <a:off x="4416552" y="2514600"/>
            <a:ext cx="274320" cy="27432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1" name="Challenge text 2"/>
          <p:cNvSpPr txBox="1"/>
          <p:nvPr/>
        </p:nvSpPr>
        <p:spPr>
          <a:xfrm>
            <a:off x="4727448" y="2295144"/>
            <a:ext cx="260604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Degradation Realism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50" b="0" i="0">
                <a:solidFill>
                  <a:srgbClr val="1A1A1A"/>
                </a:solidFill>
                <a:latin typeface="Arial" panose="020B0604020202020204"/>
              </a:rPr>
              <a:t>Simulated failures must behave realistically</a:t>
            </a:r>
            <a:endParaRPr sz="10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2" name="flow arrow"/>
          <p:cNvSpPr/>
          <p:nvPr/>
        </p:nvSpPr>
        <p:spPr>
          <a:xfrm rot="5400000">
            <a:off x="7498079" y="2532888"/>
            <a:ext cx="182880" cy="237744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3" name="Mitigation 2"/>
          <p:cNvSpPr/>
          <p:nvPr/>
        </p:nvSpPr>
        <p:spPr>
          <a:xfrm>
            <a:off x="7818120" y="2295144"/>
            <a:ext cx="405079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Multiple levels of communication degradation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4" name="Challenge 3"/>
          <p:cNvSpPr/>
          <p:nvPr/>
        </p:nvSpPr>
        <p:spPr>
          <a:xfrm>
            <a:off x="4343400" y="3081527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challenge no."/>
          <p:cNvSpPr/>
          <p:nvPr/>
        </p:nvSpPr>
        <p:spPr>
          <a:xfrm>
            <a:off x="4416552" y="3300983"/>
            <a:ext cx="274320" cy="27432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6" name="Challenge text 3"/>
          <p:cNvSpPr txBox="1"/>
          <p:nvPr/>
        </p:nvSpPr>
        <p:spPr>
          <a:xfrm>
            <a:off x="4727448" y="3081527"/>
            <a:ext cx="260604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Decision Evaluation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50" b="0" i="0">
                <a:solidFill>
                  <a:srgbClr val="1A1A1A"/>
                </a:solidFill>
                <a:latin typeface="Arial" panose="020B0604020202020204"/>
              </a:rPr>
              <a:t>Several different actions may be valid</a:t>
            </a:r>
            <a:endParaRPr sz="10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7" name="flow arrow"/>
          <p:cNvSpPr/>
          <p:nvPr/>
        </p:nvSpPr>
        <p:spPr>
          <a:xfrm rot="5400000">
            <a:off x="7498079" y="3319272"/>
            <a:ext cx="182880" cy="237744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8" name="Mitigation 3"/>
          <p:cNvSpPr/>
          <p:nvPr/>
        </p:nvSpPr>
        <p:spPr>
          <a:xfrm>
            <a:off x="7818120" y="3081527"/>
            <a:ext cx="405079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Expert-defined evaluation criteria with explainable scoring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9" name="Challenge 4"/>
          <p:cNvSpPr/>
          <p:nvPr/>
        </p:nvSpPr>
        <p:spPr>
          <a:xfrm>
            <a:off x="4343400" y="3867911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0" name="challenge no."/>
          <p:cNvSpPr/>
          <p:nvPr/>
        </p:nvSpPr>
        <p:spPr>
          <a:xfrm>
            <a:off x="4416552" y="4087368"/>
            <a:ext cx="274320" cy="27432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1" name="Challenge text 4"/>
          <p:cNvSpPr txBox="1"/>
          <p:nvPr/>
        </p:nvSpPr>
        <p:spPr>
          <a:xfrm>
            <a:off x="4727448" y="3867911"/>
            <a:ext cx="260604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Multi-Domain Complexity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50" b="0" i="0">
                <a:solidFill>
                  <a:srgbClr val="1A1A1A"/>
                </a:solidFill>
                <a:latin typeface="Arial" panose="020B0604020202020204"/>
              </a:rPr>
              <a:t>Managing interactions between operational domains</a:t>
            </a:r>
            <a:endParaRPr sz="10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32" name="flow arrow"/>
          <p:cNvSpPr/>
          <p:nvPr/>
        </p:nvSpPr>
        <p:spPr>
          <a:xfrm rot="5400000">
            <a:off x="7498079" y="4105655"/>
            <a:ext cx="182880" cy="237744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Mitigation 4"/>
          <p:cNvSpPr/>
          <p:nvPr/>
        </p:nvSpPr>
        <p:spPr>
          <a:xfrm>
            <a:off x="7818120" y="3867911"/>
            <a:ext cx="405079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Modular simulation architecture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34" name="Challenge 5"/>
          <p:cNvSpPr/>
          <p:nvPr/>
        </p:nvSpPr>
        <p:spPr>
          <a:xfrm>
            <a:off x="4343400" y="4654296"/>
            <a:ext cx="3017520" cy="713232"/>
          </a:xfrm>
          <a:prstGeom prst="roundRect">
            <a:avLst>
              <a:gd name="adj" fmla="val 8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challenge no."/>
          <p:cNvSpPr/>
          <p:nvPr/>
        </p:nvSpPr>
        <p:spPr>
          <a:xfrm>
            <a:off x="4416552" y="4873752"/>
            <a:ext cx="274320" cy="274320"/>
          </a:xfrm>
          <a:prstGeom prst="ellipse">
            <a:avLst/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6" name="Challenge text 5"/>
          <p:cNvSpPr txBox="1"/>
          <p:nvPr/>
        </p:nvSpPr>
        <p:spPr>
          <a:xfrm>
            <a:off x="4727448" y="4654296"/>
            <a:ext cx="2606040" cy="713232"/>
          </a:xfrm>
          <a:prstGeom prst="rect">
            <a:avLst/>
          </a:prstGeom>
          <a:noFill/>
        </p:spPr>
        <p:txBody>
          <a:bodyPr wrap="square" lIns="36576" tIns="18288" rIns="36576" bIns="18288" anchor="ctr"/>
          <a:lstStyle/>
          <a:p>
            <a:pPr algn="l"/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Security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  <a:p>
            <a:pPr algn="l"/>
            <a:r>
              <a:rPr sz="1050" b="0" i="0">
                <a:solidFill>
                  <a:srgbClr val="1A1A1A"/>
                </a:solidFill>
                <a:latin typeface="Arial" panose="020B0604020202020204"/>
              </a:rPr>
              <a:t>Scenarios and performance data may be sensitive</a:t>
            </a:r>
            <a:endParaRPr sz="10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37" name="flow arrow"/>
          <p:cNvSpPr/>
          <p:nvPr/>
        </p:nvSpPr>
        <p:spPr>
          <a:xfrm rot="5400000">
            <a:off x="7498079" y="4892040"/>
            <a:ext cx="182880" cy="237744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8" name="Mitigation 5"/>
          <p:cNvSpPr/>
          <p:nvPr/>
        </p:nvSpPr>
        <p:spPr>
          <a:xfrm>
            <a:off x="7818120" y="4654296"/>
            <a:ext cx="4050791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8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bIns="27432" rtlCol="0" anchor="ctr"/>
          <a:lstStyle/>
          <a:p>
            <a:pPr algn="l"/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Role-based access, secure storage and controlled deployment; data stays within authorized infrastructure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39" name="Future directions label"/>
          <p:cNvSpPr/>
          <p:nvPr/>
        </p:nvSpPr>
        <p:spPr>
          <a:xfrm>
            <a:off x="320040" y="5486400"/>
            <a:ext cx="2057400" cy="77724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7432" bIns="27432" rtlCol="0" anchor="ctr"/>
          <a:lstStyle/>
          <a:p>
            <a:pPr algn="ctr"/>
            <a:r>
              <a:rPr sz="1250" b="1" i="0">
                <a:solidFill>
                  <a:srgbClr val="FFFFFF"/>
                </a:solidFill>
                <a:latin typeface="Arial" panose="020B0604020202020204"/>
              </a:rPr>
              <a:t>Future Technical Directions</a:t>
            </a:r>
            <a:endParaRPr sz="125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40" name="Future direction"/>
          <p:cNvSpPr/>
          <p:nvPr/>
        </p:nvSpPr>
        <p:spPr>
          <a:xfrm>
            <a:off x="2468880" y="5486400"/>
            <a:ext cx="1505712" cy="77724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AI-driven adaptive scenarios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41" name="Future direction"/>
          <p:cNvSpPr/>
          <p:nvPr/>
        </p:nvSpPr>
        <p:spPr>
          <a:xfrm>
            <a:off x="4047744" y="5486400"/>
            <a:ext cx="1505712" cy="77724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Digital-twin-inspired simulation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42" name="Future direction"/>
          <p:cNvSpPr/>
          <p:nvPr/>
        </p:nvSpPr>
        <p:spPr>
          <a:xfrm>
            <a:off x="5626608" y="5486400"/>
            <a:ext cx="1505712" cy="77724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Advanced decision-support models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43" name="Future direction"/>
          <p:cNvSpPr/>
          <p:nvPr/>
        </p:nvSpPr>
        <p:spPr>
          <a:xfrm>
            <a:off x="7205472" y="5486400"/>
            <a:ext cx="1505712" cy="77724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Real-time multi-user training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44" name="Future direction"/>
          <p:cNvSpPr/>
          <p:nvPr/>
        </p:nvSpPr>
        <p:spPr>
          <a:xfrm>
            <a:off x="8784336" y="5486400"/>
            <a:ext cx="1505712" cy="77724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Secure edge deployment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</p:txBody>
      </p:sp>
      <p:sp>
        <p:nvSpPr>
          <p:cNvPr id="17445" name="Future direction"/>
          <p:cNvSpPr/>
          <p:nvPr/>
        </p:nvSpPr>
        <p:spPr>
          <a:xfrm>
            <a:off x="10363200" y="5486400"/>
            <a:ext cx="1505712" cy="77724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050" b="1" i="0">
                <a:solidFill>
                  <a:srgbClr val="1F3864"/>
                </a:solidFill>
                <a:latin typeface="Arial" panose="020B0604020202020204"/>
              </a:rPr>
              <a:t>Integration with authorized defence training systems</a:t>
            </a:r>
            <a:endParaRPr sz="1050" b="1" i="0">
              <a:solidFill>
                <a:srgbClr val="1F386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IMPACT AND BENEFITS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>
                <a:sym typeface="+mn-ea"/>
              </a:rPr>
              <a:t>     Code Crew</a:t>
            </a:r>
            <a:endParaRPr lang="en-US" altLang="en-IN" dirty="0"/>
          </a:p>
          <a:p>
            <a:pPr algn="ctr"/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arget Audience header"/>
          <p:cNvSpPr/>
          <p:nvPr/>
        </p:nvSpPr>
        <p:spPr>
          <a:xfrm>
            <a:off x="320040" y="1143000"/>
            <a:ext cx="3758184" cy="310896"/>
          </a:xfrm>
          <a:prstGeom prst="roundRect">
            <a:avLst>
              <a:gd name="adj" fmla="val 2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Target Audience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1" name="Target Audience body"/>
          <p:cNvSpPr/>
          <p:nvPr/>
        </p:nvSpPr>
        <p:spPr>
          <a:xfrm>
            <a:off x="320040" y="1481328"/>
            <a:ext cx="3758184" cy="1463039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Defence personnel and trainees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Military training institutions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Command and decision-making training programs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Multi-domain operations training teams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Authorized defence simulation and research organizations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2" name="Training header"/>
          <p:cNvSpPr/>
          <p:nvPr/>
        </p:nvSpPr>
        <p:spPr>
          <a:xfrm>
            <a:off x="4215384" y="1143000"/>
            <a:ext cx="3758184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Training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3" name="Training body"/>
          <p:cNvSpPr/>
          <p:nvPr/>
        </p:nvSpPr>
        <p:spPr>
          <a:xfrm>
            <a:off x="4215384" y="1481328"/>
            <a:ext cx="3758184" cy="1463039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Realistic practice under degraded communication conditions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Better decision-making under uncertainty and time pressure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Repeated scenario-based training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4" name="Operational Readiness header"/>
          <p:cNvSpPr/>
          <p:nvPr/>
        </p:nvSpPr>
        <p:spPr>
          <a:xfrm>
            <a:off x="8110728" y="1143000"/>
            <a:ext cx="3758184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Operational Readiness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5" name="Operational Readiness body"/>
          <p:cNvSpPr/>
          <p:nvPr/>
        </p:nvSpPr>
        <p:spPr>
          <a:xfrm>
            <a:off x="8110728" y="1481328"/>
            <a:ext cx="3758184" cy="1463039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Adaptability when communication is unreliable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Situational awareness and information prioritization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Practice in coordinated decision-making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6" name="Cost &amp; Scalability header"/>
          <p:cNvSpPr/>
          <p:nvPr/>
        </p:nvSpPr>
        <p:spPr>
          <a:xfrm>
            <a:off x="320040" y="3054096"/>
            <a:ext cx="3758184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Cost &amp; Scalability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7" name="Cost &amp; Scalability body"/>
          <p:cNvSpPr/>
          <p:nvPr/>
        </p:nvSpPr>
        <p:spPr>
          <a:xfrm>
            <a:off x="320040" y="3392423"/>
            <a:ext cx="3758184" cy="1463039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Less dependence on repeated physical training setups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Reusable software-based scenarios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Configurable difficulty and multiple scenarios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8" name="Analytics header"/>
          <p:cNvSpPr/>
          <p:nvPr/>
        </p:nvSpPr>
        <p:spPr>
          <a:xfrm>
            <a:off x="4215384" y="3054096"/>
            <a:ext cx="3758184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Analytics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9" name="Analytics body"/>
          <p:cNvSpPr/>
          <p:nvPr/>
        </p:nvSpPr>
        <p:spPr>
          <a:xfrm>
            <a:off x="4215384" y="3392423"/>
            <a:ext cx="3758184" cy="1463039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Tracks trainee decisions and response patterns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Enables after-action review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Identifies areas needing additional training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0" name="Innovation header"/>
          <p:cNvSpPr/>
          <p:nvPr/>
        </p:nvSpPr>
        <p:spPr>
          <a:xfrm>
            <a:off x="8110728" y="3054096"/>
            <a:ext cx="3758184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Innovation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1" name="Innovation body"/>
          <p:cNvSpPr/>
          <p:nvPr/>
        </p:nvSpPr>
        <p:spPr>
          <a:xfrm>
            <a:off x="8110728" y="3392423"/>
            <a:ext cx="3758184" cy="1463039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Combines immersive simulation, communication degradation and adaptive decision evaluation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200"/>
              </a:spcAft>
              <a:buFont typeface="Arial" panose="020B0604020202020204"/>
              <a:buChar char="•"/>
            </a:pPr>
            <a:r>
              <a:rPr sz="1250" b="0" i="0">
                <a:solidFill>
                  <a:srgbClr val="1A1A1A"/>
                </a:solidFill>
                <a:latin typeface="Arial" panose="020B0604020202020204"/>
              </a:rPr>
              <a:t>Foundation for future AI-enabled defence training systems</a:t>
            </a:r>
            <a:endParaRPr sz="12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22" name="Scenario header"/>
          <p:cNvSpPr/>
          <p:nvPr/>
        </p:nvSpPr>
        <p:spPr>
          <a:xfrm>
            <a:off x="320040" y="5029200"/>
            <a:ext cx="4754880" cy="274320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 panose="020B0604020202020204"/>
              </a:rPr>
              <a:t>Example Scenario  (conceptual flow)</a:t>
            </a:r>
            <a:endParaRPr sz="11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3" name="Scenario step 1"/>
          <p:cNvSpPr/>
          <p:nvPr/>
        </p:nvSpPr>
        <p:spPr>
          <a:xfrm>
            <a:off x="320040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2E8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Normal Communication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4" name="flow arrow"/>
          <p:cNvSpPr/>
          <p:nvPr/>
        </p:nvSpPr>
        <p:spPr>
          <a:xfrm rot="5400000">
            <a:off x="1627632" y="5719572"/>
            <a:ext cx="118872" cy="164592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5" name="Scenario step 2"/>
          <p:cNvSpPr/>
          <p:nvPr/>
        </p:nvSpPr>
        <p:spPr>
          <a:xfrm>
            <a:off x="1783079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Communication Degrades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6" name="flow arrow"/>
          <p:cNvSpPr/>
          <p:nvPr/>
        </p:nvSpPr>
        <p:spPr>
          <a:xfrm rot="5400000">
            <a:off x="3090671" y="5719572"/>
            <a:ext cx="118872" cy="164592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7" name="Scenario step 3"/>
          <p:cNvSpPr/>
          <p:nvPr/>
        </p:nvSpPr>
        <p:spPr>
          <a:xfrm>
            <a:off x="3246120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E877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Information Delayed / Incomplete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28" name="flow arrow"/>
          <p:cNvSpPr/>
          <p:nvPr/>
        </p:nvSpPr>
        <p:spPr>
          <a:xfrm rot="5400000">
            <a:off x="4553712" y="5719572"/>
            <a:ext cx="118872" cy="164592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29" name="Scenario step 4"/>
          <p:cNvSpPr/>
          <p:nvPr/>
        </p:nvSpPr>
        <p:spPr>
          <a:xfrm>
            <a:off x="4709159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Trainee Assesses Situation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0" name="flow arrow"/>
          <p:cNvSpPr/>
          <p:nvPr/>
        </p:nvSpPr>
        <p:spPr>
          <a:xfrm rot="5400000">
            <a:off x="6016751" y="5719572"/>
            <a:ext cx="118872" cy="164592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1" name="Scenario step 5"/>
          <p:cNvSpPr/>
          <p:nvPr/>
        </p:nvSpPr>
        <p:spPr>
          <a:xfrm>
            <a:off x="6172199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Decision Under Uncertainty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2" name="flow arrow"/>
          <p:cNvSpPr/>
          <p:nvPr/>
        </p:nvSpPr>
        <p:spPr>
          <a:xfrm rot="5400000">
            <a:off x="7479791" y="5719572"/>
            <a:ext cx="118872" cy="164592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3" name="Scenario step 6"/>
          <p:cNvSpPr/>
          <p:nvPr/>
        </p:nvSpPr>
        <p:spPr>
          <a:xfrm>
            <a:off x="7635240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6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System Evaluates Decision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4" name="flow arrow"/>
          <p:cNvSpPr/>
          <p:nvPr/>
        </p:nvSpPr>
        <p:spPr>
          <a:xfrm rot="5400000">
            <a:off x="8942832" y="5719572"/>
            <a:ext cx="118872" cy="164592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5" name="Scenario step 7"/>
          <p:cNvSpPr/>
          <p:nvPr/>
        </p:nvSpPr>
        <p:spPr>
          <a:xfrm>
            <a:off x="9098280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7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After-Action Review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36" name="flow arrow"/>
          <p:cNvSpPr/>
          <p:nvPr/>
        </p:nvSpPr>
        <p:spPr>
          <a:xfrm rot="5400000">
            <a:off x="10405872" y="5719572"/>
            <a:ext cx="118872" cy="164592"/>
          </a:xfrm>
          <a:prstGeom prst="triangle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37" name="Scenario step 8"/>
          <p:cNvSpPr/>
          <p:nvPr/>
        </p:nvSpPr>
        <p:spPr>
          <a:xfrm>
            <a:off x="10561319" y="5367528"/>
            <a:ext cx="1280160" cy="868680"/>
          </a:xfrm>
          <a:prstGeom prst="roundRect">
            <a:avLst>
              <a:gd name="adj" fmla="val 10000"/>
            </a:avLst>
          </a:prstGeom>
          <a:solidFill>
            <a:srgbClr val="2E8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27432" rIns="45720" bIns="27432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 panose="020B0604020202020204"/>
              </a:rPr>
              <a:t>8</a:t>
            </a:r>
            <a:endParaRPr sz="120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000" b="1" i="0">
                <a:solidFill>
                  <a:srgbClr val="FFFFFF"/>
                </a:solidFill>
                <a:latin typeface="Arial" panose="020B0604020202020204"/>
              </a:rPr>
              <a:t>Adaptive Next Scenario</a:t>
            </a:r>
            <a:endParaRPr sz="1000" b="1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MS PGothic" panose="020B0600070205080204" pitchFamily="1" charset="-128"/>
                <a:cs typeface="Times New Roman" panose="02020603050405020304" pitchFamily="18" charset="0"/>
              </a:rPr>
              <a:t>RESEARCH  AND REFERENCES</a:t>
            </a:r>
            <a:endParaRPr lang="en-US" sz="3600" b="1" dirty="0">
              <a:latin typeface="Times New Roman" panose="02020603050405020304" pitchFamily="18" charset="0"/>
              <a:ea typeface="MS PGothic" panose="020B0600070205080204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MS PGothic" panose="020B0600070205080204" pitchFamily="1" charset="-128"/>
                <a:cs typeface="+mn-cs"/>
              </a:rPr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MS PGothic" panose="020B0600070205080204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/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en-IN" dirty="0">
                <a:sym typeface="+mn-ea"/>
              </a:rPr>
              <a:t>     Code Crew</a:t>
            </a:r>
            <a:endParaRPr lang="en-US" altLang="en-IN" dirty="0"/>
          </a:p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esearch Areas header"/>
          <p:cNvSpPr/>
          <p:nvPr/>
        </p:nvSpPr>
        <p:spPr>
          <a:xfrm>
            <a:off x="320040" y="1143000"/>
            <a:ext cx="3520440" cy="310896"/>
          </a:xfrm>
          <a:prstGeom prst="roundRect">
            <a:avLst>
              <a:gd name="adj" fmla="val 2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Research Areas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1" name="Research Areas body"/>
          <p:cNvSpPr/>
          <p:nvPr/>
        </p:nvSpPr>
        <p:spPr>
          <a:xfrm>
            <a:off x="320040" y="1481328"/>
            <a:ext cx="3520440" cy="3867911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Decision-making under uncertainty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Multi-domain operational simulation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Human-in-the-loop training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Communication-degraded environments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Immersive simulation and serious games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Adaptive training systems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AI-assisted decision evaluation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Scenario generation and simulation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After-action review and performance analytics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50" b="0" i="0">
                <a:solidFill>
                  <a:srgbClr val="1A1A1A"/>
                </a:solidFill>
                <a:latin typeface="Arial" panose="020B0604020202020204"/>
              </a:rPr>
              <a:t>Secure defence training technologies</a:t>
            </a:r>
            <a:endParaRPr sz="13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2" name="Future Scope header"/>
          <p:cNvSpPr/>
          <p:nvPr/>
        </p:nvSpPr>
        <p:spPr>
          <a:xfrm>
            <a:off x="3977639" y="1143000"/>
            <a:ext cx="3657600" cy="310896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Future Scope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3" name="Future Scope body"/>
          <p:cNvSpPr/>
          <p:nvPr/>
        </p:nvSpPr>
        <p:spPr>
          <a:xfrm>
            <a:off x="3977639" y="1481328"/>
            <a:ext cx="3657600" cy="3867911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Advanced AI-based adaptive scenario generation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Realistic multi-domain simulation environments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AI-assisted performance evaluation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Dynamic difficulty adjustment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Multi-user collaborative training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Real-time communication-network simulation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Secure edge / cloud deployment where authorized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300" b="0" i="0">
                <a:solidFill>
                  <a:srgbClr val="1A1A1A"/>
                </a:solidFill>
                <a:latin typeface="Arial" panose="020B0604020202020204"/>
              </a:rPr>
              <a:t>Integration with approved defence training and simulation systems</a:t>
            </a:r>
            <a:endParaRPr sz="130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4" name="References header"/>
          <p:cNvSpPr/>
          <p:nvPr/>
        </p:nvSpPr>
        <p:spPr>
          <a:xfrm>
            <a:off x="7772400" y="1143000"/>
            <a:ext cx="4096512" cy="310896"/>
          </a:xfrm>
          <a:prstGeom prst="roundRect">
            <a:avLst>
              <a:gd name="adj" fmla="val 20000"/>
            </a:avLst>
          </a:prstGeom>
          <a:solidFill>
            <a:srgbClr val="2E8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8288" rIns="73152" bIns="18288" rtlCol="0" anchor="ctr"/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 panose="020B0604020202020204"/>
              </a:rPr>
              <a:t>References</a:t>
            </a:r>
            <a:endParaRPr sz="1300" b="1" i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7415" name="References body"/>
          <p:cNvSpPr/>
          <p:nvPr/>
        </p:nvSpPr>
        <p:spPr>
          <a:xfrm>
            <a:off x="7772400" y="1481328"/>
            <a:ext cx="4096512" cy="3867911"/>
          </a:xfrm>
          <a:prstGeom prst="roundRect">
            <a:avLst>
              <a:gd name="adj" fmla="val 4000"/>
            </a:avLst>
          </a:prstGeom>
          <a:solidFill>
            <a:srgbClr val="EA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0" bIns="54864" rtlCol="0" anchor="t"/>
          <a:lstStyle/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Official sources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Smart India Hackathon – www.sih.gov.in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7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Ministry of Defence, Government of India – www.mod.gov.in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algn="l">
              <a:spcAft>
                <a:spcPts val="200"/>
              </a:spcAft>
            </a:pPr>
            <a:r>
              <a:rPr sz="1150" b="1" i="0">
                <a:solidFill>
                  <a:srgbClr val="1F3864"/>
                </a:solidFill>
                <a:latin typeface="Arial" panose="020B0604020202020204"/>
              </a:rPr>
              <a:t>Research</a:t>
            </a:r>
            <a:endParaRPr sz="1150" b="1" i="0">
              <a:solidFill>
                <a:srgbClr val="1F3864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Endsley, M. R. (1995). Toward a theory of situation awareness in dynamic systems. Human Factors, 37(1), 32–64.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Klein, G. (1998). Sources of Power: How People Make Decisions. MIT Press.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  <a:p>
            <a:pPr marL="171450" indent="-171450" algn="l">
              <a:spcAft>
                <a:spcPts val="500"/>
              </a:spcAft>
              <a:buFont typeface="Arial" panose="020B0604020202020204"/>
              <a:buChar char="•"/>
            </a:pPr>
            <a:r>
              <a:rPr sz="1150" b="0" i="0">
                <a:solidFill>
                  <a:srgbClr val="1A1A1A"/>
                </a:solidFill>
                <a:latin typeface="Arial" panose="020B0604020202020204"/>
              </a:rPr>
              <a:t>Tannenbaum, S. I. &amp; Cerasoli, C. P. (2013). Do team and individual debriefs enhance performance? A meta-analysis. Human Factors, 55(1), 231–245.</a:t>
            </a:r>
            <a:endParaRPr sz="1150" b="0" i="0">
              <a:solidFill>
                <a:srgbClr val="1A1A1A"/>
              </a:solidFill>
              <a:latin typeface="Arial" panose="020B0604020202020204"/>
            </a:endParaRPr>
          </a:p>
        </p:txBody>
      </p:sp>
      <p:sp>
        <p:nvSpPr>
          <p:cNvPr id="17416" name="Project reference banner"/>
          <p:cNvSpPr/>
          <p:nvPr/>
        </p:nvSpPr>
        <p:spPr>
          <a:xfrm>
            <a:off x="320040" y="5468112"/>
            <a:ext cx="11548872" cy="804672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36576" rIns="137160" bIns="36576" rtlCol="0" anchor="ctr"/>
          <a:lstStyle/>
          <a:p>
            <a:pPr algn="ctr"/>
            <a:r>
              <a:rPr sz="1000" b="1" i="0">
                <a:solidFill>
                  <a:srgbClr val="BDD7EE"/>
                </a:solidFill>
                <a:latin typeface="Arial" panose="020B0604020202020204"/>
              </a:rPr>
              <a:t>PROJECT REFERENCE</a:t>
            </a:r>
            <a:endParaRPr sz="1000" b="1" i="0">
              <a:solidFill>
                <a:srgbClr val="BDD7EE"/>
              </a:solidFill>
              <a:latin typeface="Arial" panose="020B0604020202020204"/>
            </a:endParaRPr>
          </a:p>
          <a:p>
            <a:pPr algn="ctr"/>
            <a:r>
              <a:rPr sz="1450" b="1" i="0">
                <a:solidFill>
                  <a:srgbClr val="FFFFFF"/>
                </a:solidFill>
                <a:latin typeface="Arial" panose="020B0604020202020204"/>
              </a:rPr>
              <a:t>Immersive Multi-Domain Decision-Making Trainer for Degraded Communication Environments</a:t>
            </a:r>
            <a:endParaRPr sz="1450" b="1" i="0">
              <a:solidFill>
                <a:srgbClr val="FFFFFF"/>
              </a:solidFill>
              <a:latin typeface="Arial" panose="020B0604020202020204"/>
            </a:endParaRPr>
          </a:p>
          <a:p>
            <a:pPr algn="ctr"/>
            <a:r>
              <a:rPr sz="1150" b="0" i="0">
                <a:solidFill>
                  <a:srgbClr val="FFFFFF"/>
                </a:solidFill>
                <a:latin typeface="Arial" panose="020B0604020202020204"/>
              </a:rPr>
              <a:t>Smart India Hackathon 2026   |   Problem Statement ID: SIH26248   |   Ministry of Defence (MoD)</a:t>
            </a:r>
            <a:endParaRPr sz="1150" b="0" i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7244</Words>
  <Application>WPS Presentation</Application>
  <PresentationFormat>Widescreen</PresentationFormat>
  <Paragraphs>385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MS PGothic</vt:lpstr>
      <vt:lpstr>TradeGothic</vt:lpstr>
      <vt:lpstr>AMGDT</vt:lpstr>
      <vt:lpstr>TradeGothic</vt:lpstr>
      <vt:lpstr>Arial</vt:lpstr>
      <vt:lpstr>Times New Roman</vt:lpstr>
      <vt:lpstr>Garamond</vt:lpstr>
      <vt:lpstr>Calibri</vt:lpstr>
      <vt:lpstr>Microsoft YaHei</vt:lpstr>
      <vt:lpstr>Arial Unicode MS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Company>Crowdfunder,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Geethika Pithani</cp:lastModifiedBy>
  <cp:revision>151</cp:revision>
  <dcterms:created xsi:type="dcterms:W3CDTF">2013-12-12T18:46:00Z</dcterms:created>
  <dcterms:modified xsi:type="dcterms:W3CDTF">2026-10-04T12:32:11Z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C507CFFEBC574F12985F5845850D9B24_12</vt:lpwstr>
  </property>
  <property fmtid="{D5CDD505-2E9C-101B-9397-08002B2CF9AE}" pid="3" name="KSOProductBuildVer">
    <vt:lpwstr>1033-12.1.0.28485</vt:lpwstr>
  </property>
</Properties>
</file>